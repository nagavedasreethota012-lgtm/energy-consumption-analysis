
<file path=[Content_Types].xml><?xml version="1.0" encoding="utf-8"?>
<Types xmlns="http://schemas.openxmlformats.org/package/2006/content-types">
  <Default Extension="png" ContentType="image/png"/>
  <Default Extension="m4a" ContentType="audio/mp4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79" r:id="rId2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88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89070-4251-4883-BADA-AF42A21542BB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7DB52-886F-46B5-9292-6E00E29D8E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455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C7DB52-886F-46B5-9292-6E00E29D8E7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436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67168" y="6286067"/>
            <a:ext cx="2932775" cy="44483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9259" y="324992"/>
            <a:ext cx="11333480" cy="9481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7821" y="1978533"/>
            <a:ext cx="10176357" cy="3279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inkedin.com/in/naga-vedasree-thota-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-35582"/>
            <a:ext cx="12192000" cy="681738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47800" y="3505200"/>
            <a:ext cx="8534399" cy="243720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789430">
              <a:lnSpc>
                <a:spcPct val="100000"/>
              </a:lnSpc>
              <a:spcBef>
                <a:spcPts val="105"/>
              </a:spcBef>
            </a:pPr>
            <a:r>
              <a:rPr lang="en-US" sz="6000" spc="-10" dirty="0" smtClean="0">
                <a:solidFill>
                  <a:srgbClr val="000000"/>
                </a:solidFill>
              </a:rPr>
              <a:t>    </a:t>
            </a:r>
            <a:r>
              <a:rPr lang="en-US" sz="2800" spc="-10" dirty="0" smtClean="0">
                <a:solidFill>
                  <a:srgbClr val="000000"/>
                </a:solidFill>
              </a:rPr>
              <a:t>Energy Consumption</a:t>
            </a:r>
            <a:r>
              <a:rPr sz="2800" dirty="0" smtClean="0">
                <a:solidFill>
                  <a:srgbClr val="000000"/>
                </a:solidFill>
              </a:rPr>
              <a:t> </a:t>
            </a:r>
            <a:r>
              <a:rPr lang="en-US" sz="2800" spc="-10" dirty="0" smtClean="0">
                <a:solidFill>
                  <a:srgbClr val="000000"/>
                </a:solidFill>
              </a:rPr>
              <a:t>Analysis</a:t>
            </a:r>
            <a:br>
              <a:rPr lang="en-US" sz="2800" spc="-10" dirty="0" smtClean="0">
                <a:solidFill>
                  <a:srgbClr val="000000"/>
                </a:solidFill>
              </a:rPr>
            </a:br>
            <a:r>
              <a:rPr lang="en-US" sz="2800" spc="-10" dirty="0" smtClean="0">
                <a:solidFill>
                  <a:srgbClr val="000000"/>
                </a:solidFill>
              </a:rPr>
              <a:t>                                   </a:t>
            </a:r>
            <a:r>
              <a:rPr lang="en-US" sz="1600" b="0" spc="-10" dirty="0" smtClean="0">
                <a:solidFill>
                  <a:srgbClr val="000000"/>
                </a:solidFill>
              </a:rPr>
              <a:t>A ENERGYDB2 Database using MySQL</a:t>
            </a:r>
            <a:br>
              <a:rPr lang="en-US" sz="1600" b="0" spc="-10" dirty="0" smtClean="0">
                <a:solidFill>
                  <a:srgbClr val="000000"/>
                </a:solidFill>
              </a:rPr>
            </a:br>
            <a:r>
              <a:rPr lang="en-US" sz="1600" b="0" spc="-10" dirty="0" smtClean="0">
                <a:solidFill>
                  <a:srgbClr val="000000"/>
                </a:solidFill>
              </a:rPr>
              <a:t/>
            </a:r>
            <a:br>
              <a:rPr lang="en-US" sz="1600" b="0" spc="-10" dirty="0" smtClean="0">
                <a:solidFill>
                  <a:srgbClr val="000000"/>
                </a:solidFill>
              </a:rPr>
            </a:br>
            <a:r>
              <a:rPr lang="en-US" sz="1600" b="0" spc="-10" dirty="0" smtClean="0">
                <a:solidFill>
                  <a:srgbClr val="000000"/>
                </a:solidFill>
              </a:rPr>
              <a:t/>
            </a:r>
            <a:br>
              <a:rPr lang="en-US" sz="1600" b="0" spc="-10" dirty="0" smtClean="0">
                <a:solidFill>
                  <a:srgbClr val="000000"/>
                </a:solidFill>
              </a:rPr>
            </a:br>
            <a:r>
              <a:rPr lang="en-US" sz="1600" b="0" spc="-10" dirty="0" smtClean="0">
                <a:solidFill>
                  <a:srgbClr val="000000"/>
                </a:solidFill>
              </a:rPr>
              <a:t>                                                                               </a:t>
            </a:r>
            <a:r>
              <a:rPr lang="en-US" sz="1950" spc="-10" dirty="0" smtClean="0">
                <a:solidFill>
                  <a:srgbClr val="000000"/>
                </a:solidFill>
              </a:rPr>
              <a:t>Presented By:</a:t>
            </a:r>
            <a:br>
              <a:rPr lang="en-US" sz="1950" spc="-10" dirty="0" smtClean="0">
                <a:solidFill>
                  <a:srgbClr val="000000"/>
                </a:solidFill>
              </a:rPr>
            </a:br>
            <a:r>
              <a:rPr lang="en-US" sz="1800" spc="-10" dirty="0" smtClean="0">
                <a:solidFill>
                  <a:srgbClr val="000000"/>
                </a:solidFill>
              </a:rPr>
              <a:t>                                                                 </a:t>
            </a:r>
            <a:r>
              <a:rPr lang="en-US" sz="1800" b="0" spc="-10" dirty="0" smtClean="0">
                <a:solidFill>
                  <a:srgbClr val="000000"/>
                </a:solidFill>
              </a:rPr>
              <a:t>Thota Naga Vedasree</a:t>
            </a:r>
            <a:endParaRPr sz="1800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795125" y="6461125"/>
            <a:ext cx="244475" cy="244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521"/>
    </mc:Choice>
    <mc:Fallback xmlns="">
      <p:transition spd="slow" advTm="115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7744" y="1653286"/>
            <a:ext cx="9255456" cy="300979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Thota Naga Vedasree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Background : </a:t>
            </a:r>
            <a:r>
              <a:rPr lang="en-US" dirty="0" smtClean="0">
                <a:solidFill>
                  <a:schemeClr val="tx1"/>
                </a:solidFill>
                <a:latin typeface="Times New Roman"/>
                <a:cs typeface="Times New Roman"/>
              </a:rPr>
              <a:t>B. Tech – CSE</a:t>
            </a:r>
          </a:p>
          <a:p>
            <a:pPr marL="12700">
              <a:lnSpc>
                <a:spcPct val="100000"/>
              </a:lnSpc>
            </a:pP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Why Data Science? </a:t>
            </a:r>
            <a:r>
              <a:rPr lang="en-US" sz="1600" dirty="0" smtClean="0"/>
              <a:t>I interested to working with data and solving problems using analytical thinking.</a:t>
            </a:r>
            <a:endParaRPr lang="en-US" sz="1600" b="1" dirty="0" smtClean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lang="en-US" sz="1600" b="1" u="sng" spc="-10" dirty="0">
              <a:solidFill>
                <a:schemeClr val="tx1"/>
              </a:solidFill>
              <a:uFill>
                <a:solidFill>
                  <a:srgbClr val="0462C1"/>
                </a:solidFill>
              </a:u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b="1" spc="-10" dirty="0" smtClean="0">
                <a:solidFill>
                  <a:schemeClr val="tx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</a:rPr>
              <a:t>Work Experience : </a:t>
            </a:r>
            <a:r>
              <a:rPr lang="en-US" spc="-10" dirty="0" smtClean="0">
                <a:solidFill>
                  <a:schemeClr val="tx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</a:rPr>
              <a:t>Fresher</a:t>
            </a:r>
          </a:p>
          <a:p>
            <a:pPr marL="12700">
              <a:lnSpc>
                <a:spcPct val="100000"/>
              </a:lnSpc>
            </a:pPr>
            <a:endParaRPr lang="en-US" spc="-10" dirty="0">
              <a:solidFill>
                <a:schemeClr val="tx1"/>
              </a:solidFill>
              <a:uFill>
                <a:solidFill>
                  <a:srgbClr val="0462C1"/>
                </a:solidFill>
              </a:u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b="1" spc="-10" dirty="0" smtClean="0">
                <a:solidFill>
                  <a:schemeClr val="tx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</a:rPr>
              <a:t>LinkedIn : </a:t>
            </a:r>
            <a:r>
              <a:rPr lang="en-US" sz="1600" u="sng" spc="-10" dirty="0" smtClean="0">
                <a:solidFill>
                  <a:schemeClr val="accent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http:</a:t>
            </a:r>
            <a:r>
              <a:rPr lang="en-US" sz="1600" b="1" u="sng" spc="-10" dirty="0" smtClean="0">
                <a:solidFill>
                  <a:schemeClr val="accent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//</a:t>
            </a:r>
            <a:r>
              <a:rPr lang="en-IN" sz="1600" u="sng" dirty="0" smtClean="0">
                <a:solidFill>
                  <a:schemeClr val="accent1"/>
                </a:solidFill>
                <a:hlinkClick r:id="rId2"/>
              </a:rPr>
              <a:t>www.linkedin.com/in/naga-vedasree-thota-</a:t>
            </a:r>
            <a:r>
              <a:rPr lang="en-IN" sz="1600" u="sng" dirty="0" smtClean="0">
                <a:solidFill>
                  <a:schemeClr val="accent1"/>
                </a:solidFill>
              </a:rPr>
              <a:t> 056388279</a:t>
            </a:r>
          </a:p>
          <a:p>
            <a:pPr marL="12700">
              <a:lnSpc>
                <a:spcPct val="100000"/>
              </a:lnSpc>
            </a:pPr>
            <a:endParaRPr lang="en-US" sz="1600" b="1" u="sng" spc="-10" dirty="0" smtClean="0">
              <a:solidFill>
                <a:schemeClr val="tx2">
                  <a:lumMod val="60000"/>
                  <a:lumOff val="40000"/>
                </a:schemeClr>
              </a:solidFill>
              <a:uFill>
                <a:solidFill>
                  <a:srgbClr val="0462C1"/>
                </a:solidFill>
              </a:u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1600" b="1" spc="-10" dirty="0" smtClean="0">
                <a:solidFill>
                  <a:schemeClr val="tx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</a:rPr>
              <a:t>GitHub : </a:t>
            </a:r>
            <a:r>
              <a:rPr lang="en-US" sz="1600" u="sng" spc="-10" dirty="0" smtClean="0">
                <a:solidFill>
                  <a:srgbClr val="0070C0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</a:rPr>
              <a:t>https://github.com/nagavedasreethota012-lgtm</a:t>
            </a:r>
            <a:endParaRPr lang="en-US" sz="1600" u="sng" spc="-10" dirty="0">
              <a:solidFill>
                <a:srgbClr val="0070C0"/>
              </a:solidFill>
              <a:uFill>
                <a:solidFill>
                  <a:srgbClr val="0462C1"/>
                </a:solidFill>
              </a:uFill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29259" y="324992"/>
            <a:ext cx="1133348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34205">
              <a:lnSpc>
                <a:spcPct val="100000"/>
              </a:lnSpc>
              <a:spcBef>
                <a:spcPts val="100"/>
              </a:spcBef>
            </a:pPr>
            <a:r>
              <a:rPr lang="en-US" dirty="0" smtClean="0">
                <a:solidFill>
                  <a:schemeClr val="tx1"/>
                </a:solidFill>
              </a:rPr>
              <a:t>Meet The Team</a:t>
            </a:r>
            <a:endParaRPr spc="-1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9259" y="324992"/>
            <a:ext cx="1133348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0624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C00000"/>
                </a:solidFill>
                <a:latin typeface="Calibri"/>
                <a:cs typeface="Calibri"/>
              </a:rPr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8314" y="1597278"/>
            <a:ext cx="5086350" cy="4044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5134" indent="-432434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45134" algn="l"/>
              </a:tabLst>
            </a:pPr>
            <a:r>
              <a:rPr sz="2400" b="1" dirty="0">
                <a:latin typeface="Calibri"/>
                <a:cs typeface="Calibri"/>
              </a:rPr>
              <a:t>Objective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Project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90"/>
              </a:spcBef>
              <a:buFont typeface="Arial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445134" indent="-432434">
              <a:lnSpc>
                <a:spcPct val="100000"/>
              </a:lnSpc>
              <a:buFont typeface="Arial"/>
              <a:buChar char="•"/>
              <a:tabLst>
                <a:tab pos="445134" algn="l"/>
              </a:tabLst>
            </a:pPr>
            <a:r>
              <a:rPr sz="2400" b="1" dirty="0">
                <a:latin typeface="Calibri"/>
                <a:cs typeface="Calibri"/>
              </a:rPr>
              <a:t>ER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Diagram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Schema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Explanation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70"/>
              </a:spcBef>
              <a:buFont typeface="Arial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445134" indent="-432434">
              <a:lnSpc>
                <a:spcPct val="100000"/>
              </a:lnSpc>
              <a:buFont typeface="Arial"/>
              <a:buChar char="•"/>
              <a:tabLst>
                <a:tab pos="445134" algn="l"/>
              </a:tabLst>
            </a:pPr>
            <a:r>
              <a:rPr sz="2400" b="1" dirty="0">
                <a:latin typeface="Calibri"/>
                <a:cs typeface="Calibri"/>
              </a:rPr>
              <a:t>Key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analysis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questions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70"/>
              </a:spcBef>
              <a:buFont typeface="Arial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445134" indent="-432434">
              <a:lnSpc>
                <a:spcPct val="100000"/>
              </a:lnSpc>
              <a:buFont typeface="Arial"/>
              <a:buChar char="•"/>
              <a:tabLst>
                <a:tab pos="445134" algn="l"/>
              </a:tabLst>
            </a:pPr>
            <a:r>
              <a:rPr sz="2400" b="1" spc="-10" dirty="0">
                <a:latin typeface="Calibri"/>
                <a:cs typeface="Calibri"/>
              </a:rPr>
              <a:t>Conclusion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95"/>
              </a:spcBef>
              <a:buFont typeface="Arial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445134" indent="-432434">
              <a:lnSpc>
                <a:spcPct val="100000"/>
              </a:lnSpc>
              <a:buFont typeface="Arial"/>
              <a:buChar char="•"/>
              <a:tabLst>
                <a:tab pos="445134" algn="l"/>
              </a:tabLst>
            </a:pPr>
            <a:r>
              <a:rPr lang="en-US" sz="2400" b="1" spc="-10" dirty="0" err="1" smtClean="0">
                <a:latin typeface="Calibri"/>
                <a:cs typeface="Calibri"/>
              </a:rPr>
              <a:t>Challeneges</a:t>
            </a:r>
            <a:r>
              <a:rPr lang="en-US" sz="2400" b="1" spc="-10" dirty="0" smtClean="0">
                <a:latin typeface="Calibri"/>
                <a:cs typeface="Calibri"/>
              </a:rPr>
              <a:t> / </a:t>
            </a:r>
            <a:r>
              <a:rPr sz="2400" b="1" spc="-10" dirty="0" smtClean="0">
                <a:latin typeface="Calibri"/>
                <a:cs typeface="Calibri"/>
              </a:rPr>
              <a:t>Experience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4800" y="282208"/>
            <a:ext cx="11333480" cy="948131"/>
          </a:xfrm>
          <a:prstGeom prst="rect">
            <a:avLst/>
          </a:prstGeom>
        </p:spPr>
        <p:txBody>
          <a:bodyPr vert="horz" wrap="square" lIns="0" tIns="386156" rIns="0" bIns="0" rtlCol="0">
            <a:spAutoFit/>
          </a:bodyPr>
          <a:lstStyle/>
          <a:p>
            <a:pPr marL="50038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1"/>
                </a:solidFill>
              </a:rPr>
              <a:t>Objective</a:t>
            </a:r>
            <a:r>
              <a:rPr spc="-4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of</a:t>
            </a:r>
            <a:r>
              <a:rPr spc="-1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the</a:t>
            </a:r>
            <a:r>
              <a:rPr spc="-10" dirty="0">
                <a:solidFill>
                  <a:schemeClr val="tx1"/>
                </a:solidFill>
              </a:rPr>
              <a:t> </a:t>
            </a:r>
            <a:r>
              <a:rPr spc="-10" dirty="0" smtClean="0">
                <a:solidFill>
                  <a:schemeClr val="tx1"/>
                </a:solidFill>
              </a:rPr>
              <a:t>Project</a:t>
            </a:r>
            <a:r>
              <a:rPr lang="en-US" spc="-10" dirty="0" smtClean="0">
                <a:solidFill>
                  <a:schemeClr val="tx1"/>
                </a:solidFill>
              </a:rPr>
              <a:t> :</a:t>
            </a:r>
            <a:endParaRPr spc="-10" dirty="0">
              <a:solidFill>
                <a:schemeClr val="tx1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315457" y="1108503"/>
            <a:ext cx="936987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Analyze energy consumption and production across different countries.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Identify countries with the highest emissions and GDP.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Study global emission and energy trends over time.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Calculate energy consumption and production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 capita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Analyze the relationship between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GDP, population, energy use, and emissions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Compare countries using emission-to-GDP and consumption-to-GDP ratios.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Generate meaningful insights from the data to support better understanding and decision-making.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2000" y="685800"/>
            <a:ext cx="3810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INTRODUCTION</a:t>
            </a:r>
            <a:r>
              <a:rPr lang="en-US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:</a:t>
            </a:r>
            <a:endParaRPr spc="-1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1676400"/>
            <a:ext cx="10800080" cy="323486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Energy Consumption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analyzes energy-related data for different countries using SQL. The dataset contains information about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consumption, energy production, emissions, GDP, and population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These datasets are organized into six related tables in a MySQL database.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SQL queries to compare countries, analyze changes over time, calculate per-capita measures, and understand the relationship between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activity, population, energy usage, and emissions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 analysis helps identify important global energy patterns and provides meaningful insights for better understanding of energy consumption and environmental impact. </a:t>
            </a:r>
          </a:p>
          <a:p>
            <a:pPr marL="12065" marR="5080">
              <a:lnSpc>
                <a:spcPts val="1939"/>
              </a:lnSpc>
              <a:spcBef>
                <a:spcPts val="345"/>
              </a:spcBef>
              <a:tabLst>
                <a:tab pos="353695" algn="l"/>
              </a:tabLst>
            </a:pP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29259" y="324992"/>
            <a:ext cx="11333480" cy="611783"/>
          </a:xfrm>
          <a:prstGeom prst="rect">
            <a:avLst/>
          </a:prstGeom>
        </p:spPr>
        <p:txBody>
          <a:bodyPr vert="horz" wrap="square" lIns="0" tIns="57226" rIns="0" bIns="0" rtlCol="0">
            <a:spAutoFit/>
          </a:bodyPr>
          <a:lstStyle/>
          <a:p>
            <a:pPr marL="41649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ER</a:t>
            </a:r>
            <a:r>
              <a:rPr spc="-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65" dirty="0">
                <a:solidFill>
                  <a:schemeClr val="tx1"/>
                </a:solidFill>
                <a:latin typeface="Arial"/>
                <a:cs typeface="Arial"/>
              </a:rPr>
              <a:t>Diagram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143000"/>
            <a:ext cx="8991600" cy="50103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48125" y="115646"/>
            <a:ext cx="372300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C00000"/>
                </a:solidFill>
              </a:rPr>
              <a:t>Analysis</a:t>
            </a:r>
            <a:r>
              <a:rPr spc="-20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039749"/>
            <a:ext cx="8379156" cy="87075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latin typeface="Times New Roman"/>
                <a:cs typeface="Times New Roman"/>
              </a:rPr>
              <a:t>1.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lang="en-IN" sz="2000" b="1" spc="-75" dirty="0" smtClean="0">
                <a:latin typeface="Times New Roman"/>
                <a:cs typeface="Times New Roman"/>
              </a:rPr>
              <a:t>General &amp; Comparative Analysis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lang="en-US" sz="2000" b="1" dirty="0" smtClean="0">
                <a:latin typeface="Times New Roman"/>
                <a:cs typeface="Times New Roman"/>
              </a:rPr>
              <a:t>What is the total emission per country for the most recent year available?</a:t>
            </a:r>
            <a:endParaRPr sz="2000" b="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3068" y="2322652"/>
            <a:ext cx="1176732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QUER</a:t>
            </a:r>
            <a:r>
              <a:rPr lang="en-US"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Y: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4519387"/>
            <a:ext cx="5445379" cy="868828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2000" b="1" dirty="0">
                <a:solidFill>
                  <a:schemeClr val="tx1"/>
                </a:solidFill>
                <a:latin typeface="Times New Roman"/>
                <a:cs typeface="Times New Roman"/>
              </a:rPr>
              <a:t>Key</a:t>
            </a:r>
            <a:r>
              <a:rPr sz="2000" b="1" spc="-4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Insights</a:t>
            </a:r>
            <a:r>
              <a:rPr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:</a:t>
            </a:r>
            <a:endParaRPr lang="en-US" sz="2000" b="1" spc="-10" dirty="0" smtClean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endParaRPr sz="20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15757" y="2322652"/>
            <a:ext cx="116522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OUTPU</a:t>
            </a:r>
            <a:r>
              <a:rPr lang="en-US"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T: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971800"/>
            <a:ext cx="4114800" cy="12466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322" y="2819400"/>
            <a:ext cx="2249878" cy="2362200"/>
          </a:xfrm>
          <a:prstGeom prst="rect">
            <a:avLst/>
          </a:prstGeom>
        </p:spPr>
      </p:pic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838200" y="5105400"/>
            <a:ext cx="1125500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China has the highest total emissions (24,392), far ahead of the United States (9,590).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India ranks third with 5,642 emissions, followed by Russia with 3,688.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top few countries contribute a large share of the total emissions, indicating significant concentration among major economies.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9259" y="324992"/>
            <a:ext cx="11333480" cy="821327"/>
          </a:xfrm>
          <a:prstGeom prst="rect">
            <a:avLst/>
          </a:prstGeom>
        </p:spPr>
        <p:txBody>
          <a:bodyPr vert="horz" wrap="square" lIns="0" tIns="508584" rIns="0" bIns="0" rtlCol="0">
            <a:spAutoFit/>
          </a:bodyPr>
          <a:lstStyle/>
          <a:p>
            <a:pPr marL="500380">
              <a:lnSpc>
                <a:spcPct val="100000"/>
              </a:lnSpc>
              <a:spcBef>
                <a:spcPts val="95"/>
              </a:spcBef>
            </a:pPr>
            <a:r>
              <a:rPr lang="en-US" sz="2000" dirty="0">
                <a:solidFill>
                  <a:schemeClr val="tx1"/>
                </a:solidFill>
              </a:rPr>
              <a:t>What are the top 5 countries by GDP in the most recent year?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800" y="1417510"/>
            <a:ext cx="1063548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QUERY:</a:t>
            </a:r>
            <a:endParaRPr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26680" y="1376844"/>
            <a:ext cx="116395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OUTPUT:</a:t>
            </a:r>
            <a:endParaRPr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4038600"/>
            <a:ext cx="5530850" cy="434093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b="1" dirty="0">
                <a:solidFill>
                  <a:schemeClr val="tx1"/>
                </a:solidFill>
                <a:latin typeface="Times New Roman"/>
                <a:cs typeface="Times New Roman"/>
              </a:rPr>
              <a:t>Key</a:t>
            </a:r>
            <a:r>
              <a:rPr sz="20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Insights</a:t>
            </a:r>
            <a:r>
              <a:rPr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:</a:t>
            </a:r>
            <a:endParaRPr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7400"/>
            <a:ext cx="4204911" cy="1828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981200"/>
            <a:ext cx="2514600" cy="1752600"/>
          </a:xfrm>
          <a:prstGeom prst="rect">
            <a:avLst/>
          </a:prstGeom>
        </p:spPr>
      </p:pic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838200" y="4435987"/>
            <a:ext cx="9619941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China has the highest GDP (28,673.24), followed by the United States (22,679.47).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India ranks third with a GDP of 11,660.21, significantly ahead of Japan and Germany.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top 5 countries show that China and the United States dominate the GDP ranking in this dataset.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81354" y="685800"/>
            <a:ext cx="8057846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b="1" dirty="0" smtClean="0">
                <a:latin typeface="Times New Roman"/>
                <a:cs typeface="Times New Roman"/>
              </a:rPr>
              <a:t>Compare energy production and consumption by country and year. </a:t>
            </a:r>
            <a:endParaRPr sz="2000" b="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0" y="1352481"/>
            <a:ext cx="11430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QUER</a:t>
            </a:r>
            <a:r>
              <a:rPr lang="en-US"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Y: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08391" y="1369143"/>
            <a:ext cx="116649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OUTPUT:</a:t>
            </a:r>
            <a:endParaRPr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4572000"/>
            <a:ext cx="5999149" cy="130228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2000" b="1" dirty="0">
                <a:solidFill>
                  <a:schemeClr val="tx1"/>
                </a:solidFill>
                <a:latin typeface="Times New Roman"/>
                <a:cs typeface="Times New Roman"/>
              </a:rPr>
              <a:t>Key</a:t>
            </a:r>
            <a:r>
              <a:rPr sz="20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Insights</a:t>
            </a:r>
            <a:r>
              <a:rPr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:</a:t>
            </a:r>
            <a:endParaRPr lang="en-US" sz="2000" b="1" spc="-10" dirty="0" smtClean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endParaRPr lang="en-US" sz="2000" b="1" spc="-10" dirty="0" smtClean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981200"/>
            <a:ext cx="4495800" cy="180738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1828800"/>
            <a:ext cx="3216167" cy="2914896"/>
          </a:xfrm>
          <a:prstGeom prst="rect">
            <a:avLst/>
          </a:prstGeom>
        </p:spPr>
      </p:pic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781354" y="5042850"/>
            <a:ext cx="10467930" cy="1156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Australia has the highest production (108) among the countries shown, with consumption of 36.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Algeria produces 36 and consumes 18, showing production is higher than consumption.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Several countries such as Afghanistan, Albania, and Barbados have zero production and consumption in the displayed data.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333480" cy="838306"/>
          </a:xfrm>
          <a:prstGeom prst="rect">
            <a:avLst/>
          </a:prstGeom>
        </p:spPr>
        <p:txBody>
          <a:bodyPr vert="horz" wrap="square" lIns="0" tIns="525399" rIns="0" bIns="0" rtlCol="0">
            <a:spAutoFit/>
          </a:bodyPr>
          <a:lstStyle/>
          <a:p>
            <a:pPr marL="500380">
              <a:lnSpc>
                <a:spcPct val="100000"/>
              </a:lnSpc>
              <a:spcBef>
                <a:spcPts val="90"/>
              </a:spcBef>
            </a:pPr>
            <a:r>
              <a:rPr lang="en-US" sz="2000" dirty="0">
                <a:solidFill>
                  <a:schemeClr val="tx1"/>
                </a:solidFill>
              </a:rPr>
              <a:t>Which energy types contribute most to emissions across all countries?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3068" y="1373986"/>
            <a:ext cx="1024332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QUERY</a:t>
            </a:r>
            <a:r>
              <a:rPr lang="en-US"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:</a:t>
            </a:r>
            <a:endParaRPr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39200" y="1388909"/>
            <a:ext cx="1053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OUTPUT: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0" y="3962400"/>
            <a:ext cx="9601200" cy="2106987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710"/>
              </a:spcBef>
            </a:pPr>
            <a:r>
              <a:rPr sz="2000" b="1" dirty="0">
                <a:solidFill>
                  <a:schemeClr val="tx1"/>
                </a:solidFill>
                <a:latin typeface="Times New Roman"/>
                <a:cs typeface="Times New Roman"/>
              </a:rPr>
              <a:t>Key</a:t>
            </a:r>
            <a:r>
              <a:rPr sz="2000" b="1" spc="-4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Insights:</a:t>
            </a:r>
            <a:endParaRPr sz="20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CO₂ emissions have the highest total at 142,723, making them the largest emission category.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Coal and coke contribute 63,945, followed by petroleum and other liquids at 47,297.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Consumed natural gas has the lowest total at 31,469 among the categories shown. </a:t>
            </a:r>
          </a:p>
          <a:p>
            <a:pPr marL="12700">
              <a:lnSpc>
                <a:spcPct val="150000"/>
              </a:lnSpc>
              <a:spcBef>
                <a:spcPts val="560"/>
              </a:spcBef>
              <a:tabLst>
                <a:tab pos="353695" algn="l"/>
              </a:tabLst>
            </a:pP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68" y="2010632"/>
            <a:ext cx="3905562" cy="157076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1939510"/>
            <a:ext cx="3657600" cy="20990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2335" y="319785"/>
            <a:ext cx="479107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latin typeface="Times New Roman"/>
                <a:cs typeface="Times New Roman"/>
              </a:rPr>
              <a:t>2</a:t>
            </a:r>
            <a:r>
              <a:rPr sz="1800" b="1" dirty="0" smtClean="0">
                <a:latin typeface="Times New Roman"/>
                <a:cs typeface="Times New Roman"/>
              </a:rPr>
              <a:t>.</a:t>
            </a:r>
            <a:r>
              <a:rPr sz="1800" b="1" spc="-35" dirty="0" smtClean="0">
                <a:latin typeface="Times New Roman"/>
                <a:cs typeface="Times New Roman"/>
              </a:rPr>
              <a:t> </a:t>
            </a:r>
            <a:r>
              <a:rPr lang="en-IN" sz="2000" b="1" spc="-35" dirty="0" smtClean="0">
                <a:latin typeface="Times New Roman"/>
                <a:cs typeface="Times New Roman"/>
              </a:rPr>
              <a:t>Trend Analysis Over Time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44423" y="948055"/>
            <a:ext cx="564388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dirty="0">
                <a:solidFill>
                  <a:schemeClr val="tx1"/>
                </a:solidFill>
              </a:rPr>
              <a:t>How have global emissions changed year over year?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800" y="1569136"/>
            <a:ext cx="102108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QUERY:</a:t>
            </a:r>
            <a:endParaRPr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29600" y="1564056"/>
            <a:ext cx="116395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OUTPUT:</a:t>
            </a:r>
            <a:endParaRPr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58" y="2190217"/>
            <a:ext cx="3577942" cy="129494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6174" y="2190216"/>
            <a:ext cx="2174625" cy="154358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66800" y="4038687"/>
            <a:ext cx="7772400" cy="223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lang="en-IN" sz="1800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Key</a:t>
            </a:r>
            <a:r>
              <a:rPr lang="en-IN" sz="1800" b="1" spc="-25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Insights:</a:t>
            </a: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endParaRPr lang="en-IN" sz="1800" dirty="0" smtClean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Global emissions increased every year, from 67,852 in 2020 to 74,161 in 2023.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Emissions increased by 6,309 overall, showing a clear upward trend.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2023 recorded the highest global emissions, while 2020 had the lowest. </a:t>
            </a:r>
          </a:p>
          <a:p>
            <a:pPr marL="353695" indent="-34099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353695" algn="l"/>
              </a:tabLst>
            </a:pPr>
            <a:endParaRPr lang="en-IN" sz="16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9259" y="324992"/>
            <a:ext cx="11333480" cy="629274"/>
          </a:xfrm>
          <a:prstGeom prst="rect">
            <a:avLst/>
          </a:prstGeom>
        </p:spPr>
        <p:txBody>
          <a:bodyPr vert="horz" wrap="square" lIns="0" tIns="318388" rIns="0" bIns="0" rtlCol="0">
            <a:spAutoFit/>
          </a:bodyPr>
          <a:lstStyle/>
          <a:p>
            <a:pPr marL="564515">
              <a:lnSpc>
                <a:spcPct val="100000"/>
              </a:lnSpc>
              <a:spcBef>
                <a:spcPts val="90"/>
              </a:spcBef>
            </a:pPr>
            <a:r>
              <a:rPr lang="en-US" sz="2000" dirty="0">
                <a:solidFill>
                  <a:schemeClr val="tx1"/>
                </a:solidFill>
              </a:rPr>
              <a:t>What is the trend in GDP for each country over the given years?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7855" y="1286376"/>
            <a:ext cx="102108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QUERY:</a:t>
            </a:r>
            <a:endParaRPr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24800" y="1223007"/>
            <a:ext cx="116395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OUTPUT:</a:t>
            </a:r>
            <a:endParaRPr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1290" y="4419600"/>
            <a:ext cx="10058400" cy="1542089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b="1" dirty="0">
                <a:solidFill>
                  <a:schemeClr val="tx1"/>
                </a:solidFill>
                <a:latin typeface="Times New Roman"/>
                <a:cs typeface="Times New Roman"/>
              </a:rPr>
              <a:t>Key</a:t>
            </a:r>
            <a:r>
              <a:rPr sz="20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Insights</a:t>
            </a:r>
            <a:r>
              <a:rPr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:</a:t>
            </a:r>
            <a:endParaRPr sz="20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Afghanistan’s GDP decreased from 83.22 in 2020 to 57.83 in 2024, showing a continuous decline.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Albania’s GDP increased from 36.79 in 2020 to 45.21 in 2024, showing steady growth.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Algeria showed strong GDP growth, increasing from 531.97 in 2020 to 615.75 in 2024.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68" y="1948051"/>
            <a:ext cx="3157932" cy="102374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676401"/>
            <a:ext cx="3276600" cy="30150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8200" y="533400"/>
            <a:ext cx="762000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b="1" dirty="0" smtClean="0">
                <a:latin typeface="Times New Roman"/>
                <a:cs typeface="Times New Roman"/>
              </a:rPr>
              <a:t>How has population growth affected total emissions in each country?</a:t>
            </a:r>
            <a:endParaRPr sz="2000" b="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9200" y="1194819"/>
            <a:ext cx="102108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QUERY:</a:t>
            </a:r>
            <a:endParaRPr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6222" y="1201533"/>
            <a:ext cx="116395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OUTPUT:</a:t>
            </a:r>
            <a:endParaRPr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83" y="1828800"/>
            <a:ext cx="4144617" cy="1981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1593616"/>
            <a:ext cx="3029213" cy="3200677"/>
          </a:xfrm>
          <a:prstGeom prst="rect">
            <a:avLst/>
          </a:prstGeom>
        </p:spPr>
      </p:pic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838200" y="4572000"/>
            <a:ext cx="11503470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000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Key</a:t>
            </a:r>
            <a:r>
              <a:rPr lang="en-IN" sz="2000" b="1" spc="-25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IN"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Insights: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Argentina has the highest population shown (45,191.96) and also high emissions (344).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Australia has relatively lower population (25,640.23) but higher emissions (753), indicating high emissions relative to population.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Bangladesh has the highest population shown (166,298) but emissions of 196, showing that a larger population does not necessarily mean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emissions.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4400" y="718770"/>
            <a:ext cx="960120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dirty="0">
                <a:solidFill>
                  <a:schemeClr val="tx1"/>
                </a:solidFill>
              </a:rPr>
              <a:t>Has energy consumption increased or decreased over the years for major economies?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290707"/>
            <a:ext cx="102108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QUERY:</a:t>
            </a:r>
            <a:endParaRPr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91400" y="1290707"/>
            <a:ext cx="116395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OUTPUT:</a:t>
            </a:r>
            <a:endParaRPr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4328722"/>
            <a:ext cx="9412287" cy="2737288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000" b="1" dirty="0">
                <a:solidFill>
                  <a:schemeClr val="tx1"/>
                </a:solidFill>
                <a:latin typeface="Times New Roman"/>
                <a:cs typeface="Times New Roman"/>
              </a:rPr>
              <a:t>Key</a:t>
            </a:r>
            <a:r>
              <a:rPr sz="20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Insights</a:t>
            </a:r>
            <a:r>
              <a:rPr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:</a:t>
            </a:r>
            <a:endParaRPr lang="en-US" sz="2000" b="1" spc="-10" dirty="0" smtClean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endParaRPr lang="en-US" sz="2000" b="1" spc="-10" dirty="0" smtClean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Algeria’s energy consumption remained stable at 3 from 2020 to 2023.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Afghanistan and Albania recorded 0 consumption across the years shown.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Overall, the displayed data shows very low or zero consumption for several countries, while Algeria shows consistent consumption over time. </a:t>
            </a:r>
          </a:p>
          <a:p>
            <a:pPr marL="355600" indent="-342900">
              <a:lnSpc>
                <a:spcPct val="150000"/>
              </a:lnSpc>
              <a:spcBef>
                <a:spcPts val="745"/>
              </a:spcBef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73757"/>
            <a:ext cx="4191000" cy="14028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691502"/>
            <a:ext cx="3352800" cy="31701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86967" y="685800"/>
            <a:ext cx="9019033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b="1" dirty="0" smtClean="0">
                <a:latin typeface="Times New Roman"/>
                <a:cs typeface="Times New Roman"/>
              </a:rPr>
              <a:t>What is the average yearly change in emissions per capita for each country?</a:t>
            </a:r>
            <a:endParaRPr sz="2000" b="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3068" y="1371600"/>
            <a:ext cx="102108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QUERY:</a:t>
            </a:r>
            <a:endParaRPr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3400" y="1252176"/>
            <a:ext cx="116395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OUTPUT:</a:t>
            </a:r>
            <a:endParaRPr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0" y="4648200"/>
            <a:ext cx="9787332" cy="1808829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b="1" dirty="0">
                <a:solidFill>
                  <a:schemeClr val="tx1"/>
                </a:solidFill>
                <a:latin typeface="Times New Roman"/>
                <a:cs typeface="Times New Roman"/>
              </a:rPr>
              <a:t>Key</a:t>
            </a:r>
            <a:r>
              <a:rPr sz="20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Insights</a:t>
            </a:r>
            <a:r>
              <a:rPr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:</a:t>
            </a:r>
            <a:endParaRPr lang="en-US" sz="2000" b="1" spc="-10" dirty="0" smtClean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average per-capita emission is identical (~0.007126) across all countries shown.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suggests the data may have a calculation, grouping, or aggregation issue that needs to be checked. </a:t>
            </a:r>
          </a:p>
          <a:p>
            <a:pPr marL="12700">
              <a:lnSpc>
                <a:spcPct val="150000"/>
              </a:lnSpc>
              <a:spcBef>
                <a:spcPts val="985"/>
              </a:spcBef>
            </a:pPr>
            <a:endParaRPr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828800"/>
            <a:ext cx="4237087" cy="1371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1726013"/>
            <a:ext cx="2781541" cy="320067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4800" y="-91393"/>
            <a:ext cx="11333480" cy="1496256"/>
          </a:xfrm>
          <a:prstGeom prst="rect">
            <a:avLst/>
          </a:prstGeom>
        </p:spPr>
        <p:txBody>
          <a:bodyPr vert="horz" wrap="square" lIns="0" tIns="567385" rIns="0" bIns="0" rtlCol="0">
            <a:spAutoFit/>
          </a:bodyPr>
          <a:lstStyle/>
          <a:p>
            <a:pPr marL="500380">
              <a:lnSpc>
                <a:spcPct val="100000"/>
              </a:lnSpc>
              <a:spcBef>
                <a:spcPts val="95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3. Ratio </a:t>
            </a:r>
            <a:r>
              <a:rPr lang="en-US" sz="2000" dirty="0">
                <a:solidFill>
                  <a:schemeClr val="tx1"/>
                </a:solidFill>
              </a:rPr>
              <a:t>&amp; Per Capita </a:t>
            </a:r>
            <a:r>
              <a:rPr lang="en-US" sz="2000" dirty="0" smtClean="0">
                <a:solidFill>
                  <a:schemeClr val="tx1"/>
                </a:solidFill>
              </a:rPr>
              <a:t>Analysis</a:t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dirty="0" smtClean="0">
                <a:solidFill>
                  <a:schemeClr val="tx1"/>
                </a:solidFill>
              </a:rPr>
              <a:t/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dirty="0" smtClean="0">
                <a:solidFill>
                  <a:schemeClr val="tx1"/>
                </a:solidFill>
              </a:rPr>
              <a:t>What </a:t>
            </a:r>
            <a:r>
              <a:rPr lang="en-US" sz="2000" dirty="0">
                <a:solidFill>
                  <a:schemeClr val="tx1"/>
                </a:solidFill>
              </a:rPr>
              <a:t>is the emission-to-GDP ratio for each country by year?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617061"/>
            <a:ext cx="102108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QUERY:</a:t>
            </a:r>
            <a:endParaRPr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86800" y="1619013"/>
            <a:ext cx="116395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OUTPUT:</a:t>
            </a:r>
            <a:endParaRPr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4648200"/>
            <a:ext cx="9558732" cy="1835118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spcBef>
                <a:spcPts val="930"/>
              </a:spcBef>
            </a:pPr>
            <a:r>
              <a:rPr sz="2000" b="1" dirty="0">
                <a:solidFill>
                  <a:schemeClr val="tx1"/>
                </a:solidFill>
                <a:latin typeface="Times New Roman"/>
                <a:cs typeface="Times New Roman"/>
              </a:rPr>
              <a:t>Key</a:t>
            </a:r>
            <a:r>
              <a:rPr sz="20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Insights</a:t>
            </a:r>
            <a:r>
              <a:rPr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:</a:t>
            </a:r>
            <a:endParaRPr lang="en-US" sz="2000" b="1" spc="-10" dirty="0" smtClean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Emission-to-GDP ratios vary significantly across countries in 2020, indicating different levels of carbon intensity.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Bahrain and Antigua &amp; Barbuda show relatively high ratios, while Albania and Angola have lower ratios among the countries shown. </a:t>
            </a:r>
          </a:p>
          <a:p>
            <a:pPr marL="12700">
              <a:spcBef>
                <a:spcPts val="930"/>
              </a:spcBef>
            </a:pP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65081"/>
            <a:ext cx="4724400" cy="156871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946627"/>
            <a:ext cx="3570233" cy="300637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1333480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What is the energy consumption per capita for each country over the last decade?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95400"/>
            <a:ext cx="11003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8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QUERY:</a:t>
            </a:r>
            <a:endParaRPr lang="en-IN" sz="18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0" y="1290430"/>
            <a:ext cx="1227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8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OUTPUT:</a:t>
            </a:r>
            <a:endParaRPr lang="en-IN" sz="18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05001"/>
            <a:ext cx="5410200" cy="1295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659762"/>
            <a:ext cx="3276600" cy="2302638"/>
          </a:xfrm>
          <a:prstGeom prst="rect">
            <a:avLst/>
          </a:prstGeom>
        </p:spPr>
      </p:pic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874643" y="3925957"/>
            <a:ext cx="961352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Key</a:t>
            </a:r>
            <a:r>
              <a:rPr lang="en-US" sz="2000" b="1" spc="-25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Insights: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Per-capita consumption is very low for most countries shown, with many values recorded as zero.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Australia has the highest consumption among the visible countries, followed by Austria and Algeria. </a:t>
            </a:r>
          </a:p>
        </p:txBody>
      </p:sp>
    </p:spTree>
    <p:extLst>
      <p:ext uri="{BB962C8B-B14F-4D97-AF65-F5344CB8AC3E}">
        <p14:creationId xmlns:p14="http://schemas.microsoft.com/office/powerpoint/2010/main" val="7258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0"/>
            <a:ext cx="11333480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How does energy production per capita vary across countries?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76739" y="1600200"/>
            <a:ext cx="11003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8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QUERY:</a:t>
            </a:r>
          </a:p>
        </p:txBody>
      </p:sp>
      <p:sp>
        <p:nvSpPr>
          <p:cNvPr id="5" name="Rectangle 4"/>
          <p:cNvSpPr/>
          <p:nvPr/>
        </p:nvSpPr>
        <p:spPr>
          <a:xfrm>
            <a:off x="8534400" y="1600200"/>
            <a:ext cx="1227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8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OUTPUT:</a:t>
            </a:r>
            <a:endParaRPr lang="en-IN" sz="18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738" y="2286000"/>
            <a:ext cx="5247861" cy="1752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133600"/>
            <a:ext cx="3048000" cy="2133600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76738" y="4583668"/>
            <a:ext cx="105918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Key</a:t>
            </a:r>
            <a:r>
              <a:rPr lang="en-US" sz="2000" b="1" spc="-25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Insights: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Qatar has the highest production per capita among the countries shown, though it slightly decreases from 2020 to 2023.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Norway and Kuwait also show relatively high production per capita, with Norway showing a noticeable decline over time. </a:t>
            </a:r>
          </a:p>
        </p:txBody>
      </p:sp>
    </p:spTree>
    <p:extLst>
      <p:ext uri="{BB962C8B-B14F-4D97-AF65-F5344CB8AC3E}">
        <p14:creationId xmlns:p14="http://schemas.microsoft.com/office/powerpoint/2010/main" val="50050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11333480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Which countries have the highest energy consumption relative to GDP?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19200"/>
            <a:ext cx="11003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8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QUERY:</a:t>
            </a:r>
            <a:endParaRPr lang="en-IN" sz="18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86800" y="1219200"/>
            <a:ext cx="1227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8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OUTPUT:</a:t>
            </a:r>
            <a:endParaRPr lang="en-IN" sz="18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057400"/>
            <a:ext cx="5562600" cy="1828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1676400"/>
            <a:ext cx="3417840" cy="2362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4038600"/>
            <a:ext cx="96774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Key</a:t>
            </a:r>
            <a:r>
              <a:rPr lang="en-US" sz="2000" b="1" spc="-25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Insights: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Trinidad and Tobago has the highest consumption-to-GDP ratio, but it steadily declined from 2020 to 2023.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North Korea and Turkmenistan also show a gradual decreasing trend over the years.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</a:t>
            </a:r>
            <a:r>
              <a:rPr lang="en-I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consumption_GDP_ratio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declining across the countries shown.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834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122" y="715762"/>
            <a:ext cx="11333480" cy="1231106"/>
          </a:xfrm>
        </p:spPr>
        <p:txBody>
          <a:bodyPr/>
          <a:lstStyle/>
          <a:p>
            <a:r>
              <a:rPr lang="en-IN" sz="2000" dirty="0" smtClean="0">
                <a:solidFill>
                  <a:schemeClr val="tx1"/>
                </a:solidFill>
              </a:rPr>
              <a:t>4. Global Comparisons</a:t>
            </a:r>
            <a:r>
              <a:rPr lang="en-IN" sz="2000" dirty="0">
                <a:solidFill>
                  <a:schemeClr val="tx1"/>
                </a:solidFill>
              </a:rPr>
              <a:t/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 smtClean="0">
                <a:solidFill>
                  <a:schemeClr val="tx1"/>
                </a:solidFill>
              </a:rPr>
              <a:t/>
            </a:r>
            <a:br>
              <a:rPr lang="en-IN" sz="2000" dirty="0" smtClean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Which countries have improved (reduced) their per capita emissions the most over the last decade?</a:t>
            </a:r>
            <a:r>
              <a:rPr lang="en-IN" sz="2000" dirty="0" smtClean="0">
                <a:solidFill>
                  <a:schemeClr val="tx1"/>
                </a:solidFill>
              </a:rPr>
              <a:t/>
            </a:r>
            <a:br>
              <a:rPr lang="en-IN" sz="2000" dirty="0" smtClean="0">
                <a:solidFill>
                  <a:schemeClr val="tx1"/>
                </a:solidFill>
              </a:rPr>
            </a:b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42122" y="1905000"/>
            <a:ext cx="11003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8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QUERY:</a:t>
            </a:r>
            <a:endParaRPr lang="en-IN" sz="18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86800" y="1905000"/>
            <a:ext cx="1227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8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OUTPUT:</a:t>
            </a:r>
            <a:endParaRPr lang="en-IN" sz="18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83" y="2590800"/>
            <a:ext cx="4896274" cy="1447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2453832"/>
            <a:ext cx="2286000" cy="20194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0283" y="4572000"/>
            <a:ext cx="86868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Key</a:t>
            </a:r>
            <a:r>
              <a:rPr lang="en-US" sz="2000" b="1" spc="-25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Insights:</a:t>
            </a: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reduction value is 0 for all countries shown, indicating no reduction in the measured metric.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suggests no significant change/reduction across these countries in the displayed data.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8569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0"/>
            <a:ext cx="11333480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What is the global share (%) of emissions by country?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200" y="1524000"/>
            <a:ext cx="11003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8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QUERY:</a:t>
            </a:r>
            <a:endParaRPr lang="en-IN" sz="18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77200" y="1369355"/>
            <a:ext cx="1227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8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OUTPUT:</a:t>
            </a:r>
            <a:endParaRPr lang="en-IN" sz="18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43" y="2209800"/>
            <a:ext cx="4687957" cy="1600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1981200"/>
            <a:ext cx="2743200" cy="2057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6300" y="4281113"/>
            <a:ext cx="93726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Key</a:t>
            </a:r>
            <a:r>
              <a:rPr lang="en-US" sz="2000" b="1" spc="-25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Insights: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China is the largest emitter, contributing 32.35% of global emissions.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United States (13.47%) and India (7.09%) follow, making them the next-largest contributors.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top 3 countries together account for over 50% of global emissions.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172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9410" y="762000"/>
            <a:ext cx="11333480" cy="307777"/>
          </a:xfrm>
        </p:spPr>
        <p:txBody>
          <a:bodyPr/>
          <a:lstStyle/>
          <a:p>
            <a:r>
              <a:rPr lang="en-US" sz="2000" dirty="0"/>
              <a:t> </a:t>
            </a:r>
            <a:r>
              <a:rPr lang="en-US" sz="2000" dirty="0">
                <a:solidFill>
                  <a:schemeClr val="tx1"/>
                </a:solidFill>
              </a:rPr>
              <a:t>What is the global average GDP, emission, and population by year?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66800" y="1447800"/>
            <a:ext cx="11003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8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QUERY:</a:t>
            </a:r>
            <a:endParaRPr lang="en-IN" sz="18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991600" y="1459396"/>
            <a:ext cx="1227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8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OUTPUT:</a:t>
            </a:r>
            <a:endParaRPr lang="en-IN" sz="18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057400"/>
            <a:ext cx="4419600" cy="22176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1981200"/>
            <a:ext cx="4134017" cy="182025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66800" y="4419600"/>
            <a:ext cx="86868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Key</a:t>
            </a:r>
            <a:r>
              <a:rPr lang="en-US" sz="2000" b="1" spc="-25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Insights: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Average GDP, emissions, and population increased steadily from 2020 to 2023.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GDP increased from 629.03 to 717.93, while average emissions rose from 85.40 to 93.46.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also grew gradually, showing an overall upward trend across all indicators.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6204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11333480" cy="553998"/>
          </a:xfrm>
        </p:spPr>
        <p:txBody>
          <a:bodyPr/>
          <a:lstStyle/>
          <a:p>
            <a:r>
              <a:rPr lang="en-IN" spc="-10" dirty="0">
                <a:solidFill>
                  <a:schemeClr val="tx1"/>
                </a:solidFill>
              </a:rPr>
              <a:t>Experience/Challenges: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524000"/>
            <a:ext cx="10176357" cy="4985980"/>
          </a:xfrm>
        </p:spPr>
        <p:txBody>
          <a:bodyPr/>
          <a:lstStyle/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Gained practical experience in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and SQL data analysis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Learned to work with multiple related tables using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and Foreign Keys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SQL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JOINs, GROUP BY, aggregate functions, subqueries, and filtering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analysis. </a:t>
            </a:r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meaningful insights from structured data to support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decision-making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relationships between the six tables was challenging initially. </a:t>
            </a:r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Handling different years and matching country records across tables required careful use of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conditions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Calculating ratios such as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emission-to-GDP and per-capita values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 careful handling of zero or missing values. </a:t>
            </a:r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Some analysis questions had multiple possible SQL approaches, so choosing the most appropriate query was challenging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42979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11333480" cy="553998"/>
          </a:xfrm>
        </p:spPr>
        <p:txBody>
          <a:bodyPr/>
          <a:lstStyle/>
          <a:p>
            <a:r>
              <a:rPr lang="en-IN" spc="-10" dirty="0">
                <a:solidFill>
                  <a:schemeClr val="tx1"/>
                </a:solidFill>
              </a:rPr>
              <a:t>Conclusion: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752600"/>
            <a:ext cx="10176357" cy="2443233"/>
          </a:xfrm>
        </p:spPr>
        <p:txBody>
          <a:bodyPr/>
          <a:lstStyle/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had Successfully analyzed global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and production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GDP, population, and emissions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countries. </a:t>
            </a:r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Identified important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and emission trends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time. </a:t>
            </a:r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Calculated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per-capita and GDP-based ratios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SQL to generate meaningful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improved practical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and data analysis skills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49476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7855" y="1850135"/>
            <a:ext cx="4465320" cy="283464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72134" y="2787472"/>
            <a:ext cx="453644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dirty="0">
                <a:solidFill>
                  <a:schemeClr val="accent2"/>
                </a:solidFill>
                <a:latin typeface="Times New Roman"/>
                <a:cs typeface="Times New Roman"/>
              </a:rPr>
              <a:t>THANK</a:t>
            </a:r>
            <a:r>
              <a:rPr sz="6000" b="0" spc="-225" dirty="0">
                <a:solidFill>
                  <a:schemeClr val="accent2"/>
                </a:solidFill>
                <a:latin typeface="Times New Roman"/>
                <a:cs typeface="Times New Roman"/>
              </a:rPr>
              <a:t> </a:t>
            </a:r>
            <a:r>
              <a:rPr sz="6000" b="0" spc="-25" dirty="0">
                <a:solidFill>
                  <a:schemeClr val="accent2"/>
                </a:solidFill>
                <a:latin typeface="Times New Roman"/>
                <a:cs typeface="Times New Roman"/>
              </a:rPr>
              <a:t>YOU</a:t>
            </a:r>
            <a:endParaRPr sz="6000" dirty="0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</TotalTime>
  <Words>1516</Words>
  <Application>Microsoft Office PowerPoint</Application>
  <PresentationFormat>Widescreen</PresentationFormat>
  <Paragraphs>177</Paragraphs>
  <Slides>25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Times New Roman</vt:lpstr>
      <vt:lpstr>Office Theme</vt:lpstr>
      <vt:lpstr>    Energy Consumption Analysis                                    A ENERGYDB2 Database using MySQL                                                                                  Presented By:                                                                  Thota Naga Vedasree</vt:lpstr>
      <vt:lpstr>Meet The Team</vt:lpstr>
      <vt:lpstr>AGENDA</vt:lpstr>
      <vt:lpstr>Objective of the Project :</vt:lpstr>
      <vt:lpstr>INTRODUCTION:</vt:lpstr>
      <vt:lpstr>ER Diagram</vt:lpstr>
      <vt:lpstr>Analysis Questions</vt:lpstr>
      <vt:lpstr>What are the top 5 countries by GDP in the most recent year?</vt:lpstr>
      <vt:lpstr>PowerPoint Presentation</vt:lpstr>
      <vt:lpstr>Which energy types contribute most to emissions across all countries?</vt:lpstr>
      <vt:lpstr>How have global emissions changed year over year?</vt:lpstr>
      <vt:lpstr>What is the trend in GDP for each country over the given years?</vt:lpstr>
      <vt:lpstr>PowerPoint Presentation</vt:lpstr>
      <vt:lpstr>Has energy consumption increased or decreased over the years for major economies?</vt:lpstr>
      <vt:lpstr>PowerPoint Presentation</vt:lpstr>
      <vt:lpstr>3. Ratio &amp; Per Capita Analysis  What is the emission-to-GDP ratio for each country by year?</vt:lpstr>
      <vt:lpstr>What is the energy consumption per capita for each country over the last decade?</vt:lpstr>
      <vt:lpstr>How does energy production per capita vary across countries?</vt:lpstr>
      <vt:lpstr>Which countries have the highest energy consumption relative to GDP?</vt:lpstr>
      <vt:lpstr>4. Global Comparisons  Which countries have improved (reduced) their per capita emissions the most over the last decade? </vt:lpstr>
      <vt:lpstr>What is the global share (%) of emissions by country?</vt:lpstr>
      <vt:lpstr> What is the global average GDP, emission, and population by year?</vt:lpstr>
      <vt:lpstr>Experience/Challenges:</vt:lpstr>
      <vt:lpstr>Conclusion: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Consumption Analysis</dc:title>
  <dc:creator>DELL</dc:creator>
  <cp:lastModifiedBy>DELL</cp:lastModifiedBy>
  <cp:revision>30</cp:revision>
  <dcterms:created xsi:type="dcterms:W3CDTF">2026-08-12T16:50:46Z</dcterms:created>
  <dcterms:modified xsi:type="dcterms:W3CDTF">2026-08-15T10:12:13Z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2026-08-12T00:00:00Z</vt:filetime>
  </property>
  <property fmtid="{D5CDD505-2E9C-101B-9397-08002B2CF9AE}" pid="5" name="Producer">
    <vt:lpwstr>www.ilovepdf.com</vt:lpwstr>
  </property>
</Properties>
</file>